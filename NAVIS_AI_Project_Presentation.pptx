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499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E0F2"/>
                </a:solidFill>
                <a:latin typeface="Consolas"/>
              </a:rPr>
              <a:t>AUTONOMOUS NAVIGATION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258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E7F1F7"/>
                </a:solidFill>
                <a:latin typeface="Aptos"/>
              </a:rPr>
              <a:t>NAVIS-</a:t>
            </a:r>
            <a:r>
              <a:rPr sz="4000" b="1">
                <a:solidFill>
                  <a:srgbClr val="00E0F2"/>
                </a:solidFill>
                <a:latin typeface="Aptos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E8CA0"/>
                </a:solidFill>
                <a:latin typeface="Aptos"/>
              </a:rPr>
              <a:t>Vision-driven • Dynamic routing • A*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7F1F7"/>
                </a:solidFill>
                <a:latin typeface="Aptos"/>
              </a:rPr>
              <a:t>An intelligent navigation platform that senses obstacles, updates the route, and guides the user toward a live destination.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5852160" cy="11430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804671" y="4114800"/>
            <a:ext cx="5532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35EF9A"/>
                </a:solidFill>
                <a:latin typeface="Consolas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247" y="4278417"/>
            <a:ext cx="21802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200" b="0" dirty="0">
                <a:solidFill>
                  <a:srgbClr val="E7F1F7"/>
                </a:solidFill>
                <a:latin typeface="Aptos"/>
              </a:rPr>
              <a:t>Gayathri Boopathy 240701141</a:t>
            </a:r>
          </a:p>
          <a:p>
            <a:pPr algn="l"/>
            <a:r>
              <a:rPr lang="en-US" sz="1200" dirty="0">
                <a:solidFill>
                  <a:srgbClr val="E7F1F7"/>
                </a:solidFill>
                <a:latin typeface="Aptos"/>
              </a:rPr>
              <a:t>Harish S 240701174</a:t>
            </a:r>
          </a:p>
          <a:p>
            <a:pPr algn="l"/>
            <a:r>
              <a:rPr lang="en-US" sz="1200" b="0" dirty="0" err="1">
                <a:solidFill>
                  <a:srgbClr val="E7F1F7"/>
                </a:solidFill>
                <a:latin typeface="Aptos"/>
              </a:rPr>
              <a:t>Harshinee</a:t>
            </a:r>
            <a:r>
              <a:rPr lang="en-US" sz="1200" b="0" dirty="0">
                <a:solidFill>
                  <a:srgbClr val="E7F1F7"/>
                </a:solidFill>
                <a:latin typeface="Aptos"/>
              </a:rPr>
              <a:t> M 240701180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265" y="4942332"/>
            <a:ext cx="5394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E8CA0"/>
                </a:solidFill>
                <a:latin typeface="Aptos"/>
              </a:rPr>
              <a:t>Replace placeholders with your actual names.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1" y="1623061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dirty="0">
                <a:solidFill>
                  <a:srgbClr val="00E0F2"/>
                </a:solidFill>
                <a:latin typeface="Consolas"/>
              </a:rPr>
              <a:t>NAVIS-AI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Real-time positioning + perception + adaptive path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6812280" cy="41148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459736"/>
            <a:ext cx="73152" cy="73152"/>
          </a:xfrm>
          <a:prstGeom prst="ellipse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Proposes NAVIS-AI, an intelligent navigation system for continuously updated route guidance.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18103"/>
            <a:ext cx="73152" cy="73152"/>
          </a:xfrm>
          <a:prstGeom prst="ellipse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054096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Uses live GPS for the user's position and Firebase Realtime Database for ESP32 destination telemetry.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76472"/>
            <a:ext cx="73152" cy="73152"/>
          </a:xfrm>
          <a:prstGeom prst="ellipse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12463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Adds a computer-vision perception layer to detect obstacles and trigger route adaptation.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34840"/>
            <a:ext cx="73152" cy="73152"/>
          </a:xfrm>
          <a:prstGeom prst="ellipse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70831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Uses A* search to compute an alternate safe path when the current path is blocked.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93207"/>
            <a:ext cx="73152" cy="73152"/>
          </a:xfrm>
          <a:prstGeom prst="ellipse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29199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Provides an operator dashboard with map, telemetry, perception status, event log, and emergency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920240"/>
            <a:ext cx="3886200" cy="41148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205740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CORE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514600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00E0F2"/>
                </a:solidFill>
                <a:latin typeface="Consolas"/>
              </a:rPr>
              <a:t>SENSE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081528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BE3F"/>
                </a:solidFill>
                <a:latin typeface="Consolas"/>
              </a:rP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648456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3F7C"/>
                </a:solidFill>
                <a:latin typeface="Consolas"/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15383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35EF9A"/>
                </a:solidFill>
                <a:latin typeface="Consolas"/>
              </a:rPr>
              <a:t>A*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782312"/>
            <a:ext cx="3154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00E0F2"/>
                </a:solidFill>
                <a:latin typeface="Consolas"/>
              </a:rPr>
              <a:t>NAVIGATE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02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Existing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Limitations of conventional/static navigation.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6812280" cy="41148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459736"/>
            <a:ext cx="73152" cy="73152"/>
          </a:xfrm>
          <a:prstGeom prst="ellipse">
            <a:avLst/>
          </a:prstGeom>
          <a:solidFill>
            <a:srgbClr val="FF3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Traditional navigation primarily relies on predefined road networks and current GPS position.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18103"/>
            <a:ext cx="73152" cy="73152"/>
          </a:xfrm>
          <a:prstGeom prst="ellipse">
            <a:avLst/>
          </a:prstGeom>
          <a:solidFill>
            <a:srgbClr val="FF3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054096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Static route planning does not directly model newly observed temporary obstacles.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76472"/>
            <a:ext cx="73152" cy="73152"/>
          </a:xfrm>
          <a:prstGeom prst="ellipse">
            <a:avLst/>
          </a:prstGeom>
          <a:solidFill>
            <a:srgbClr val="FF3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12463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Indoor/localized navigation requires additional sensing and spatial representation.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34840"/>
            <a:ext cx="73152" cy="73152"/>
          </a:xfrm>
          <a:prstGeom prst="ellipse">
            <a:avLst/>
          </a:prstGeom>
          <a:solidFill>
            <a:srgbClr val="FF3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70831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GPS, perception, and routing are often treated as separate components.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93207"/>
            <a:ext cx="73152" cy="73152"/>
          </a:xfrm>
          <a:prstGeom prst="ellipse">
            <a:avLst/>
          </a:prstGeom>
          <a:solidFill>
            <a:srgbClr val="FF3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29199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Manual rerouting can introduce delay when the environment changes.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920240"/>
            <a:ext cx="3886200" cy="41148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205740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E3F"/>
                </a:solidFill>
                <a:latin typeface="Consolas"/>
              </a:rP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146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3F7C"/>
                </a:solidFill>
                <a:latin typeface="Consolas"/>
              </a:rPr>
              <a:t>STATIC 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317296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BE3F"/>
                </a:solidFill>
                <a:latin typeface="Consolas"/>
              </a:rPr>
              <a:t>LIMITED PERCEPTION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831335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E0F2"/>
                </a:solidFill>
                <a:latin typeface="Consolas"/>
              </a:rPr>
              <a:t>SLOW ADAPTATION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48970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5EF9A"/>
                </a:solidFill>
                <a:latin typeface="Consolas"/>
              </a:rPr>
              <a:t>FRAGMENTED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03 •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Closing the loop between sensing, routing, and live navigation.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514600" cy="2240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LIVE 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0E0F2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7F1F7"/>
                </a:solidFill>
                <a:latin typeface="Aptos"/>
              </a:rPr>
              <a:t>Moving user marker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011680"/>
            <a:ext cx="2514600" cy="2240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75304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5EF9A"/>
                </a:solidFill>
                <a:latin typeface="Consolas"/>
              </a:rPr>
              <a:t>ESP32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14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5EF9A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546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7F1F7"/>
                </a:solidFill>
                <a:latin typeface="Aptos"/>
              </a:rPr>
              <a:t>Firebase destination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011680"/>
            <a:ext cx="2514600" cy="2240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E3F"/>
                </a:solidFill>
                <a:latin typeface="Consolas"/>
              </a:rPr>
              <a:t>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14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BE3F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1546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7F1F7"/>
                </a:solidFill>
                <a:latin typeface="Aptos"/>
              </a:rPr>
              <a:t>Obstacle perception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3416" y="2011680"/>
            <a:ext cx="2514600" cy="2240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8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A*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514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3F7C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5468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E7F1F7"/>
                </a:solidFill>
                <a:latin typeface="Aptos"/>
              </a:rPr>
              <a:t>Alternate safe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1092708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709160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CONTROL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56632"/>
            <a:ext cx="10424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E0F2"/>
                </a:solidFill>
                <a:latin typeface="Consolas"/>
              </a:rPr>
              <a:t>SENSE  →  LOCALIZE  →  DETECT  →  BLOCK  →  A*  →  REROUTE  →  NAVIGATE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04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End-to-end data 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240280"/>
            <a:ext cx="1874519" cy="15087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LAPTOP /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E7F1F7"/>
                </a:solidFill>
                <a:latin typeface="Consolas"/>
              </a:rPr>
              <a:t>Live GPS
Browser camera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79" y="2990088"/>
            <a:ext cx="411481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240280"/>
            <a:ext cx="1874519" cy="15087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23774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5EF9A"/>
                </a:solidFill>
                <a:latin typeface="Consolas"/>
              </a:rPr>
              <a:t>FIREBASE RTDB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8892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E7F1F7"/>
                </a:solidFill>
                <a:latin typeface="Consolas"/>
              </a:rPr>
              <a:t>/location
lat • lon • accuracy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79" y="2990088"/>
            <a:ext cx="411481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240280"/>
            <a:ext cx="1874519" cy="15087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0952" y="23774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E3F"/>
                </a:solidFill>
                <a:latin typeface="Consolas"/>
              </a:rPr>
              <a:t>NAVIS-AI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8892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E7F1F7"/>
                </a:solidFill>
                <a:latin typeface="Consolas"/>
              </a:rPr>
              <a:t>Perception
A* planner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40880" y="2990088"/>
            <a:ext cx="411480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52360" y="2240280"/>
            <a:ext cx="1874519" cy="15087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6952" y="23774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MAP / ROUTER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78892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E7F1F7"/>
                </a:solidFill>
                <a:latin typeface="Consolas"/>
              </a:rPr>
              <a:t>OSM • Leaflet
Road route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2990088"/>
            <a:ext cx="411480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2240280"/>
            <a:ext cx="1874519" cy="15087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02952" y="23774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8892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E7F1F7"/>
                </a:solidFill>
                <a:latin typeface="Consolas"/>
              </a:rPr>
              <a:t>Telemetry
Events • Controls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51960"/>
            <a:ext cx="11018520" cy="123444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3891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5EF9A"/>
                </a:solidFill>
                <a:latin typeface="Consolas"/>
              </a:rPr>
              <a:t>DATA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365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7F1F7"/>
                </a:solidFill>
                <a:latin typeface="Consolas"/>
              </a:rPr>
              <a:t>GPS + ESP32 TELEMETRY + CAMERA  →  OBSTACLE CONSTRAINTS  →  A* SEARCH  →  LIVE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05 •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Foundations supporting navigation, perception, mapping, and path planning.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2057400" cy="612648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03120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Aptos"/>
              </a:rP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965960"/>
            <a:ext cx="3840480" cy="612648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61488" y="2103120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Aptos"/>
              </a:rPr>
              <a:t>KEY WORK / TECHNOLOGY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965960"/>
            <a:ext cx="5074920" cy="612648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103120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Aptos"/>
              </a:rPr>
              <a:t>RELEVANCE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78608"/>
            <a:ext cx="205740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2715768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A* 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578608"/>
            <a:ext cx="384048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61488" y="2715768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Hart, Nilsson &amp; Raphael (1968)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578608"/>
            <a:ext cx="507492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2715768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Graph-search foundation for optimal path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191256"/>
            <a:ext cx="205740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3328416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PROBABILISTIC ROBOTICS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3191256"/>
            <a:ext cx="384048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61488" y="3328416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Thrun, Burgard &amp; Fox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191256"/>
            <a:ext cx="507492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01968" y="3328416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Localization, mapping, and uncertainty.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803904"/>
            <a:ext cx="205740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3941064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YOLO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803904"/>
            <a:ext cx="384048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61488" y="3941064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Redmon et al. (2016)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803904"/>
            <a:ext cx="507492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1968" y="3941064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Real-time object detection for perception.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416552"/>
            <a:ext cx="205740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4553712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OPENSTREETMAP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416552"/>
            <a:ext cx="384048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61488" y="4553712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OSM ecosystem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4416552"/>
            <a:ext cx="507492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01968" y="4553712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Open geographic data for map visualization.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5029200"/>
            <a:ext cx="205740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4088" y="5166360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OSRM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5029200"/>
            <a:ext cx="384048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61488" y="5166360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Open Source Routing Machine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029200"/>
            <a:ext cx="507492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01968" y="5166360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Road-network routing, distance and duration.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5641848"/>
            <a:ext cx="205740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4088" y="5779008"/>
            <a:ext cx="18379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FIREBASE RTDB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51760" y="5641848"/>
            <a:ext cx="384048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61488" y="5779008"/>
            <a:ext cx="3621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Firebase Realtime Database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641848"/>
            <a:ext cx="5074920" cy="612648"/>
          </a:xfrm>
          <a:prstGeom prst="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1968" y="5779008"/>
            <a:ext cx="48554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E7F1F7"/>
                </a:solidFill>
                <a:latin typeface="Aptos"/>
              </a:rPr>
              <a:t>Realtime exchange of ESP32 telemetry.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26364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E8CA0"/>
                </a:solidFill>
                <a:latin typeface="Aptos"/>
              </a:rPr>
              <a:t>Add institution-specific papers/citation style if your department requires them.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06 •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Obstacle-Aware A*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When an obstacle blocks the active path, A* searches for a safer alternative.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1874519" cy="1051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CURRENT ROUTE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79" y="2542032"/>
            <a:ext cx="393193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62072" y="2011680"/>
            <a:ext cx="1874519" cy="1051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26664" y="21488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OBSTACLE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36592" y="2542032"/>
            <a:ext cx="393191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2011680"/>
            <a:ext cx="1874519" cy="1051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94376" y="21488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E3F"/>
                </a:solidFill>
                <a:latin typeface="Consolas"/>
              </a:rPr>
              <a:t>BLOCK CELLS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04304" y="2542032"/>
            <a:ext cx="393192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97496" y="2011680"/>
            <a:ext cx="1874519" cy="1051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8" y="21488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5EF9A"/>
                </a:solidFill>
                <a:latin typeface="Consolas"/>
              </a:rPr>
              <a:t>A* SEARCH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72016" y="2542032"/>
            <a:ext cx="393192" cy="0"/>
          </a:xfrm>
          <a:prstGeom prst="line">
            <a:avLst/>
          </a:prstGeom>
          <a:ln>
            <a:solidFill>
              <a:srgbClr val="6E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65208" y="2011680"/>
            <a:ext cx="1874519" cy="1051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2148840"/>
            <a:ext cx="15544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SAFE ROUTE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6766560" cy="2194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566160"/>
            <a:ext cx="6446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GRID / OBSTACLE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2588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33172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3464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3756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48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4632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4924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5216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3931920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32588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2880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33172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83464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37560" y="4242816"/>
            <a:ext cx="411480" cy="228600"/>
          </a:xfrm>
          <a:prstGeom prst="rect">
            <a:avLst/>
          </a:prstGeom>
          <a:solidFill>
            <a:srgbClr val="FF3F7C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480" y="4242816"/>
            <a:ext cx="411480" cy="228600"/>
          </a:xfrm>
          <a:prstGeom prst="rect">
            <a:avLst/>
          </a:prstGeom>
          <a:solidFill>
            <a:srgbClr val="FF3F7C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34340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4632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4924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5216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55080" y="4242816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2296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32588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82880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33172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83464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337560" y="4553712"/>
            <a:ext cx="411480" cy="228600"/>
          </a:xfrm>
          <a:prstGeom prst="rect">
            <a:avLst/>
          </a:prstGeom>
          <a:solidFill>
            <a:srgbClr val="FF3F7C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840480" y="4553712"/>
            <a:ext cx="411480" cy="228600"/>
          </a:xfrm>
          <a:prstGeom prst="rect">
            <a:avLst/>
          </a:prstGeom>
          <a:solidFill>
            <a:srgbClr val="FF3F7C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34340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4632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34924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85216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55080" y="4553712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296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32588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82880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33172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83464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337560" y="4864608"/>
            <a:ext cx="411480" cy="228600"/>
          </a:xfrm>
          <a:prstGeom prst="rect">
            <a:avLst/>
          </a:prstGeom>
          <a:solidFill>
            <a:srgbClr val="FF3F7C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840480" y="4864608"/>
            <a:ext cx="411480" cy="228600"/>
          </a:xfrm>
          <a:prstGeom prst="rect">
            <a:avLst/>
          </a:prstGeom>
          <a:solidFill>
            <a:srgbClr val="FF3F7C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34340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84632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34924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85216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355080" y="4864608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22960" y="5175504"/>
            <a:ext cx="411480" cy="228600"/>
          </a:xfrm>
          <a:prstGeom prst="rect">
            <a:avLst/>
          </a:prstGeom>
          <a:solidFill>
            <a:srgbClr val="111C25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32588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82880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33172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83464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33756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84048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34340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484632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34924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85216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355080" y="5175504"/>
            <a:ext cx="411480" cy="228600"/>
          </a:xfrm>
          <a:prstGeom prst="rect">
            <a:avLst/>
          </a:prstGeom>
          <a:solidFill>
            <a:srgbClr val="00E0F2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7635240" y="3429000"/>
            <a:ext cx="3931920" cy="21945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799831" y="3566160"/>
            <a:ext cx="36118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A* SCORE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55279" y="39776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E0F2"/>
                </a:solidFill>
                <a:latin typeface="Consolas"/>
              </a:rPr>
              <a:t>f(n) = g(n) + h(n)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4526280"/>
            <a:ext cx="3291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g(n) = cost from start
h(n) = estimated cost to goal
f(n) = total priority 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07 •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NAVIS-AI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Operator-focused live navigation interface.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LIVE GPS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Moving user marker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1168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75304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5EF9A"/>
                </a:solidFill>
                <a:latin typeface="Consolas"/>
              </a:rPr>
              <a:t>ESP32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6243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Firebase destination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01168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91656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ROAD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243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Distance + 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201168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08008" y="21488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E3F"/>
                </a:solidFill>
                <a:latin typeface="Consolas"/>
              </a:rPr>
              <a:t>OBSTACLES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26243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Perception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2900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A* REROUTE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416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Alternate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0712" y="342900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75304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EVENT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40416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System trace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342900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E3F"/>
                </a:solidFill>
                <a:latin typeface="Consolas"/>
              </a:rPr>
              <a:t>HEAD DIRECTION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40416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IMU-ready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3429000"/>
            <a:ext cx="2514600" cy="10972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08008" y="356616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EMERGENCY STOP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404164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E7F1F7"/>
                </a:solidFill>
                <a:latin typeface="Aptos"/>
              </a:rPr>
              <a:t>Navigation halt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257800"/>
            <a:ext cx="10927080" cy="64008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5394960"/>
            <a:ext cx="10607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35EF9A"/>
                </a:solidFill>
                <a:latin typeface="Consolas"/>
              </a:rPr>
              <a:t>DESIGN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59552"/>
            <a:ext cx="10424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00E0F2"/>
                </a:solidFill>
                <a:latin typeface="Consolas"/>
              </a:rPr>
              <a:t>ONE SCREEN  •  LIVE STATE  •  FAST DECISIONS  •  EXPLAINABLE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08 •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0E0F2"/>
                </a:solidFill>
                <a:latin typeface="Aptos"/>
              </a:rPr>
              <a:t>NAVIS-AI</a:t>
            </a:r>
            <a:r>
              <a:rPr sz="2700" b="0">
                <a:solidFill>
                  <a:srgbClr val="6E8CA0"/>
                </a:solidFill>
                <a:latin typeface="Aptos"/>
              </a:rPr>
              <a:t>  |  </a:t>
            </a:r>
            <a:r>
              <a:rPr sz="2700" b="1">
                <a:solidFill>
                  <a:srgbClr val="E7F1F7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E8CA0"/>
                </a:solidFill>
                <a:latin typeface="Aptos"/>
              </a:rPr>
              <a:t>From prototype navigation to perception-aware autonomous routing.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155680" cy="9144"/>
          </a:xfrm>
          <a:prstGeom prst="rect">
            <a:avLst/>
          </a:prstGeom>
          <a:solidFill>
            <a:srgbClr val="23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6812280" cy="41148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2459736"/>
            <a:ext cx="73152" cy="73152"/>
          </a:xfrm>
          <a:prstGeom prst="ellipse">
            <a:avLst/>
          </a:prstGeom>
          <a:solidFill>
            <a:srgbClr val="35E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Combines live location, IoT telemetry, map routing, perception, and A* planning.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18103"/>
            <a:ext cx="73152" cy="73152"/>
          </a:xfrm>
          <a:prstGeom prst="ellipse">
            <a:avLst/>
          </a:prstGeom>
          <a:solidFill>
            <a:srgbClr val="35E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054096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An obstacle can invalidate the active path and trigger an alternate route.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76472"/>
            <a:ext cx="73152" cy="73152"/>
          </a:xfrm>
          <a:prstGeom prst="ellipse">
            <a:avLst/>
          </a:prstGeom>
          <a:solidFill>
            <a:srgbClr val="35E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12463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Firebase provides realtime communication between ESP32 telemetry and the web dashboard.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34840"/>
            <a:ext cx="73152" cy="73152"/>
          </a:xfrm>
          <a:prstGeom prst="ellipse">
            <a:avLst/>
          </a:prstGeom>
          <a:solidFill>
            <a:srgbClr val="35E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370831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Future hardware: MPU9250 for heading and GPS module for independent ESP32 positioning.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093207"/>
            <a:ext cx="73152" cy="73152"/>
          </a:xfrm>
          <a:prstGeom prst="ellipse">
            <a:avLst/>
          </a:prstGeom>
          <a:solidFill>
            <a:srgbClr val="35E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5029199"/>
            <a:ext cx="6263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E7F1F7"/>
                </a:solidFill>
                <a:latin typeface="Aptos"/>
              </a:rPr>
              <a:t>Future AI: OpenCV / YOLO detection linked to road-segment constraints for smarter A*.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920240"/>
            <a:ext cx="3886200" cy="411480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5552" y="205740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F7C"/>
                </a:solidFill>
                <a:latin typeface="Consolas"/>
              </a:rPr>
              <a:t>NEXT MILESTONE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87168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>
                <a:latin typeface=""/>
              </a:rPr>
              <a:t>CAMERA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00E0F2"/>
                </a:solidFill>
                <a:latin typeface="Consolas"/>
              </a:rPr>
              <a:t>NAVIS-AI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783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E8CA0"/>
                </a:solidFill>
                <a:latin typeface="Consolas"/>
              </a:rPr>
              <a:t>AUTONOMOUS NAVIGATION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E7F1F7"/>
                </a:solidFill>
                <a:latin typeface="Aptos"/>
              </a:rPr>
              <a:t>Sense. Plan. Reroute.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35EF9A"/>
                </a:solidFill>
                <a:latin typeface="Aptos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3840480" cy="4023360"/>
          </a:xfrm>
          <a:prstGeom prst="roundRect">
            <a:avLst/>
          </a:prstGeom>
          <a:solidFill>
            <a:srgbClr val="0D151D"/>
          </a:solidFill>
          <a:ln>
            <a:solidFill>
              <a:srgbClr val="23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9792" y="1371600"/>
            <a:ext cx="3520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0F2"/>
                </a:solidFill>
                <a:latin typeface="Consolas"/>
              </a:rPr>
              <a:t>PROJECT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874519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313432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Firebase RTDB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752344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Live GPS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19125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Leaflet + OSM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630168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OSRM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069079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E7F1F7"/>
                </a:solidFill>
                <a:latin typeface="Consolas"/>
              </a:rPr>
              <a:t>Computer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507992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E7F1F7"/>
                </a:solidFill>
                <a:latin typeface="Consolas"/>
              </a:rPr>
              <a:t>A* Path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56692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E8CA0"/>
                </a:solidFill>
                <a:latin typeface="Consolas"/>
              </a:rPr>
              <a:t>TEAM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961888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E7F1F7"/>
                </a:solidFill>
                <a:latin typeface="Aptos"/>
              </a:rPr>
              <a:t>Team Member 1  •  Team Member 2  •  Team Member 3  •  Team Member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73952"/>
            <a:ext cx="3657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6E8CA0"/>
                </a:solidFill>
                <a:latin typeface="Consolas"/>
              </a:rPr>
              <a:t>NAVIS-AI  • 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37376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E8CA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798</Words>
  <Application>Microsoft Office PowerPoint</Application>
  <PresentationFormat>Widescreen</PresentationFormat>
  <Paragraphs>169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S</cp:lastModifiedBy>
  <cp:revision>2</cp:revision>
  <dcterms:created xsi:type="dcterms:W3CDTF">2013-01-27T09:14:16Z</dcterms:created>
  <dcterms:modified xsi:type="dcterms:W3CDTF">2026-09-22T12:27:15Z</dcterms:modified>
  <cp:category/>
</cp:coreProperties>
</file>